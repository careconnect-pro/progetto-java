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DM Sans"/>
      <p:regular r:id="rId31"/>
      <p:bold r:id="rId32"/>
      <p:italic r:id="rId33"/>
      <p:boldItalic r:id="rId34"/>
    </p:embeddedFont>
    <p:embeddedFont>
      <p:font typeface="DM Serif Display"/>
      <p:regular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DMSans-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35" Type="http://schemas.openxmlformats.org/officeDocument/2006/relationships/font" Target="fonts/DMSerifDisplay-regular.fntdata"/><Relationship Id="rId12" Type="http://schemas.openxmlformats.org/officeDocument/2006/relationships/slide" Target="slides/slide7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DMSerifDisplay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5300e35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g3f5300e35c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6ed95d72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g3c6ed95d72f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ed95d72f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c6ed95d72f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6553b683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c6553b6839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6553b683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c6553b6839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6ed95d72f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c6ed95d72f_1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73699b3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c73699b34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795516f7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c795516f7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6553b683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c6553b6839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6553b683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c6553b6839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6553b683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c6553b6839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6553b6839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c6553b6839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6553b6839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c6553b6839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53ac1781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f53ac1781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3ac1781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f53ac17812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3ac1781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f53ac17812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53ac1781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f53ac17812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3ac17812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53ac1781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6553b683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c6553b6839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73699b34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c73699b344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6553b683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c6553b6839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6553b6839_0_4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c6553b6839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3ac17812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f53ac1781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6553b6839_0_4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c6553b6839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53ac1781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f53ac1781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0647600" y="4850700"/>
            <a:ext cx="6075300" cy="1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10647600" y="4057589"/>
            <a:ext cx="61044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2109100" y="3810000"/>
            <a:ext cx="7075800" cy="26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>
            <p:ph idx="2" type="pic"/>
          </p:nvPr>
        </p:nvSpPr>
        <p:spPr>
          <a:xfrm>
            <a:off x="9683750" y="2875"/>
            <a:ext cx="8613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028700" y="2595375"/>
            <a:ext cx="7420500" cy="5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1005425" y="1164175"/>
            <a:ext cx="74205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750187" y="-3750187"/>
            <a:ext cx="6706225" cy="67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34875" y="7500613"/>
            <a:ext cx="6706225" cy="67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>
            <p:ph idx="2" type="pic"/>
          </p:nvPr>
        </p:nvSpPr>
        <p:spPr>
          <a:xfrm>
            <a:off x="0" y="11377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/>
          <p:nvPr>
            <p:ph idx="3" type="pic"/>
          </p:nvPr>
        </p:nvSpPr>
        <p:spPr>
          <a:xfrm>
            <a:off x="0" y="56363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9683725" y="2631350"/>
            <a:ext cx="8089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9658350" y="1200150"/>
            <a:ext cx="80898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4" type="body"/>
          </p:nvPr>
        </p:nvSpPr>
        <p:spPr>
          <a:xfrm>
            <a:off x="9671038" y="7132800"/>
            <a:ext cx="8089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5"/>
          <p:cNvSpPr txBox="1"/>
          <p:nvPr>
            <p:ph idx="5" type="title"/>
          </p:nvPr>
        </p:nvSpPr>
        <p:spPr>
          <a:xfrm>
            <a:off x="9645663" y="5701600"/>
            <a:ext cx="80898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400"/>
              <a:buFont typeface="DM Serif Display"/>
              <a:buNone/>
              <a:defRPr b="0" i="0" sz="4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F1F1F"/>
              </a:buClr>
              <a:buSzPts val="3200"/>
              <a:buFont typeface="DM Serif Display"/>
              <a:buChar char="•"/>
              <a:defRPr b="0" i="0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DM Sans"/>
              <a:buChar char="–"/>
              <a:defRPr b="0" i="0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DM Sans"/>
              <a:buChar char="•"/>
              <a:defRPr b="0" i="0" sz="24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–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»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0624800" y="1714513"/>
            <a:ext cx="6857976" cy="6857976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10980"/>
              </a:srgbClr>
            </a:outerShdw>
          </a:effectLst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4">
            <a:alphaModFix amt="20000"/>
          </a:blip>
          <a:srcRect b="18652" l="0" r="0" t="15442"/>
          <a:stretch/>
        </p:blipFill>
        <p:spPr>
          <a:xfrm>
            <a:off x="-800475" y="939401"/>
            <a:ext cx="9861100" cy="840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/>
        </p:nvSpPr>
        <p:spPr>
          <a:xfrm>
            <a:off x="3510876" y="4035301"/>
            <a:ext cx="122337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2784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CareConnect Pro 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Progetto POSW - Università di Pavia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3510874" y="6567547"/>
            <a:ext cx="12793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AGNESE PINTO, DARLIS MORILLO MENDOZA, SARA DOMENICA SAPONE</a:t>
            </a:r>
            <a:endParaRPr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11232275" y="9015201"/>
            <a:ext cx="6250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Anno: 2025-2026		Gruppo: Magggiche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6671250" y="287430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1143700" y="287430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1036750" y="1250630"/>
            <a:ext cx="1623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7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Introduzione al progetto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8061" y="3904625"/>
            <a:ext cx="1471900" cy="16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/>
          <p:nvPr/>
        </p:nvSpPr>
        <p:spPr>
          <a:xfrm>
            <a:off x="1374688" y="6168050"/>
            <a:ext cx="4483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Contesto</a:t>
            </a:r>
            <a:endParaRPr b="1" i="0" sz="28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RSA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clinica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amministrativa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02262" y="6168050"/>
            <a:ext cx="4483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Attori</a:t>
            </a:r>
            <a:endParaRPr b="1" i="0" sz="28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Medici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Infermieri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Personale amministrativo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2815565" y="3904616"/>
            <a:ext cx="1601765" cy="1601765"/>
          </a:xfrm>
          <a:custGeom>
            <a:rect b="b" l="l" r="r" t="t"/>
            <a:pathLst>
              <a:path extrusionOk="0" h="949194" w="1031733">
                <a:moveTo>
                  <a:pt x="0" y="0"/>
                </a:moveTo>
                <a:lnTo>
                  <a:pt x="1031733" y="0"/>
                </a:lnTo>
                <a:lnTo>
                  <a:pt x="1031733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12429800" y="287430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01450" y="3904398"/>
            <a:ext cx="1602200" cy="16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12660788" y="6168050"/>
            <a:ext cx="44835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Funzionalità chiave</a:t>
            </a:r>
            <a:endParaRPr b="1" i="0" sz="28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Archivio dati clinici e anagrafici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Supporto attivo alle attività assistenziali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122149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66793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11437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1036750" y="1250630"/>
            <a:ext cx="1623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7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Obiettivi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1374688" y="5938050"/>
            <a:ext cx="44835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Sicurezza</a:t>
            </a:r>
            <a:endParaRPr b="1" i="0" sz="28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Controllo degli accessi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ruoli e permessi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6910288" y="5938050"/>
            <a:ext cx="44835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Tracciabilità clinica</a:t>
            </a:r>
            <a:endParaRPr b="1" i="0" sz="28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Storicizzazione dello stato di salute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Tracciamento delle attività cliniche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12445899" y="5938050"/>
            <a:ext cx="47145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Riduzione degli errori</a:t>
            </a:r>
            <a:endParaRPr b="1" i="0" sz="28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Prescrizione digitale delle terapie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Monitoraggi digitalizzati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Somministrazioni tracciate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b="0" i="0" lang="en-US" sz="26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Generazione automatica alert clinici</a:t>
            </a:r>
            <a:endParaRPr b="0" i="0" sz="26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815713" y="3654376"/>
            <a:ext cx="1601481" cy="1815334"/>
          </a:xfrm>
          <a:custGeom>
            <a:rect b="b" l="l" r="r" t="t"/>
            <a:pathLst>
              <a:path extrusionOk="0" h="949194" w="766259">
                <a:moveTo>
                  <a:pt x="0" y="0"/>
                </a:moveTo>
                <a:lnTo>
                  <a:pt x="766258" y="0"/>
                </a:lnTo>
                <a:lnTo>
                  <a:pt x="76625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" name="Google Shape;68;p8"/>
          <p:cNvSpPr/>
          <p:nvPr/>
        </p:nvSpPr>
        <p:spPr>
          <a:xfrm>
            <a:off x="8416332" y="3866948"/>
            <a:ext cx="1471448" cy="1602741"/>
          </a:xfrm>
          <a:custGeom>
            <a:rect b="b" l="l" r="r" t="t"/>
            <a:pathLst>
              <a:path extrusionOk="0" h="820866" w="599979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8"/>
          <p:cNvSpPr/>
          <p:nvPr/>
        </p:nvSpPr>
        <p:spPr>
          <a:xfrm>
            <a:off x="13886900" y="3866900"/>
            <a:ext cx="1319943" cy="1602847"/>
          </a:xfrm>
          <a:custGeom>
            <a:rect b="b" l="l" r="r" t="t"/>
            <a:pathLst>
              <a:path extrusionOk="0" h="848067" w="565892">
                <a:moveTo>
                  <a:pt x="0" y="0"/>
                </a:moveTo>
                <a:lnTo>
                  <a:pt x="565893" y="0"/>
                </a:lnTo>
                <a:lnTo>
                  <a:pt x="565893" y="848067"/>
                </a:lnTo>
                <a:lnTo>
                  <a:pt x="0" y="848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/>
        </p:nvSpPr>
        <p:spPr>
          <a:xfrm>
            <a:off x="2955300" y="707275"/>
            <a:ext cx="123774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7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Processo software - UP</a:t>
            </a:r>
            <a:endParaRPr b="0" i="0" sz="72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3619313" y="2175225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I1 : Ideazione del progetto</a:t>
            </a:r>
            <a:endParaRPr b="0" i="0" sz="27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3619388" y="3442200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E1: Elaborazione modello architetturale e casi d’uso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3619388" y="4709175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CE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E2: Sviluppo diagramma ER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3619388" y="5976150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CE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C1 : Creazione classi principali MVC e collegamento DB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3619388" y="7243125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BD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C2: Realizzazione delle interfacce grafiche</a:t>
            </a:r>
            <a:endParaRPr b="0" i="1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3619313" y="8510100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BD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T1: Implementazione test e rafactorig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8487225" y="5982384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8487225" y="4554923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8487225" y="3182853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8487225" y="1875043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8487225" y="616475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/>
        </p:nvSpPr>
        <p:spPr>
          <a:xfrm>
            <a:off x="300963" y="3862795"/>
            <a:ext cx="71061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Requisiti funzionali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8710102" y="861916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0"/>
          <p:cNvSpPr txBox="1"/>
          <p:nvPr/>
        </p:nvSpPr>
        <p:spPr>
          <a:xfrm>
            <a:off x="9433056" y="912464"/>
            <a:ext cx="7580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RF1 - Gestione Accessi e Autenticazione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8710102" y="2095725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0"/>
          <p:cNvSpPr txBox="1"/>
          <p:nvPr/>
        </p:nvSpPr>
        <p:spPr>
          <a:xfrm>
            <a:off x="9433056" y="2146274"/>
            <a:ext cx="7580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RF2 - Gestione dei Profili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8673090" y="3407540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0"/>
          <p:cNvSpPr txBox="1"/>
          <p:nvPr/>
        </p:nvSpPr>
        <p:spPr>
          <a:xfrm>
            <a:off x="9396044" y="3458088"/>
            <a:ext cx="7580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RF3- Registrazione dei Monitoraggi Clinici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673090" y="4717793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0"/>
          <p:cNvSpPr txBox="1"/>
          <p:nvPr/>
        </p:nvSpPr>
        <p:spPr>
          <a:xfrm>
            <a:off x="9396044" y="4826154"/>
            <a:ext cx="7916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RF4- Generazione Automatica degli Alert Clinici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8710102" y="6199050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0"/>
          <p:cNvSpPr txBox="1"/>
          <p:nvPr/>
        </p:nvSpPr>
        <p:spPr>
          <a:xfrm>
            <a:off x="9433056" y="6249599"/>
            <a:ext cx="7580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RF5 - Consultazione e Risoluzione degli alert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487225" y="7329213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8710102" y="7545880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0"/>
          <p:cNvSpPr txBox="1"/>
          <p:nvPr/>
        </p:nvSpPr>
        <p:spPr>
          <a:xfrm>
            <a:off x="9433056" y="7596428"/>
            <a:ext cx="7580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</a:t>
            </a:r>
            <a:r>
              <a:rPr lang="en-US" sz="2937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6</a:t>
            </a: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- </a:t>
            </a:r>
            <a:r>
              <a:rPr lang="en-US" sz="2937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Consultazione del Piano Terapeutico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8487225" y="8676019"/>
            <a:ext cx="9100500" cy="9945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8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5"/>
              <a:buFont typeface="Arial"/>
              <a:buNone/>
            </a:pPr>
            <a:r>
              <a:t/>
            </a:r>
            <a:endParaRPr b="0" i="0" sz="1285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8710102" y="8892686"/>
            <a:ext cx="516371" cy="552906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0"/>
          <p:cNvSpPr txBox="1"/>
          <p:nvPr/>
        </p:nvSpPr>
        <p:spPr>
          <a:xfrm>
            <a:off x="9433056" y="8943235"/>
            <a:ext cx="7580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7"/>
              <a:buFont typeface="Arial"/>
              <a:buNone/>
            </a:pPr>
            <a:r>
              <a:rPr b="0" i="0" lang="en-US" sz="2937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RF7 - </a:t>
            </a:r>
            <a:r>
              <a:rPr lang="en-US" sz="2937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Registrazione della Somministrazione</a:t>
            </a:r>
            <a:endParaRPr b="0" i="0" sz="12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1"/>
          <p:cNvSpPr txBox="1"/>
          <p:nvPr/>
        </p:nvSpPr>
        <p:spPr>
          <a:xfrm>
            <a:off x="300963" y="3222595"/>
            <a:ext cx="71061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Requisiti </a:t>
            </a:r>
            <a:endParaRPr b="0" i="0" sz="104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non</a:t>
            </a:r>
            <a:endParaRPr b="0" i="0" sz="104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funzionali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9336475" y="61072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9336475" y="46017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9336475" y="30962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9579303" y="3363601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1"/>
          <p:cNvSpPr txBox="1"/>
          <p:nvPr/>
        </p:nvSpPr>
        <p:spPr>
          <a:xfrm>
            <a:off x="10366975" y="3418675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RNF1 - Usabilità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9579303" y="4842126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1"/>
          <p:cNvSpPr txBox="1"/>
          <p:nvPr/>
        </p:nvSpPr>
        <p:spPr>
          <a:xfrm>
            <a:off x="10366975" y="4897200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RNF2 - Compatibilità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9538978" y="6351989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1"/>
          <p:cNvSpPr txBox="1"/>
          <p:nvPr/>
        </p:nvSpPr>
        <p:spPr>
          <a:xfrm>
            <a:off x="10326650" y="6407063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RNF3- Affidabilità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 amt="65000"/>
          </a:blip>
          <a:srcRect b="-550" l="-38900" r="38900" t="550"/>
          <a:stretch/>
        </p:blipFill>
        <p:spPr>
          <a:xfrm>
            <a:off x="6144661" y="-17555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 txBox="1"/>
          <p:nvPr/>
        </p:nvSpPr>
        <p:spPr>
          <a:xfrm>
            <a:off x="10916863" y="3609320"/>
            <a:ext cx="71061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Tecnologie</a:t>
            </a:r>
            <a:endParaRPr b="0" i="0" sz="104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Utilizzate</a:t>
            </a:r>
            <a:endParaRPr b="0" i="0" sz="104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785701" y="2985112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JavaSE 21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785701" y="5321278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MySQL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5189898" y="2985112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Java Swing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5189898" y="5321278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  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JDBC Connector</a:t>
            </a:r>
            <a:endParaRPr b="0" i="0" sz="3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179676" y="6083785"/>
            <a:ext cx="325489" cy="455581"/>
          </a:xfrm>
          <a:custGeom>
            <a:rect b="b" l="l" r="r" t="t"/>
            <a:pathLst>
              <a:path extrusionOk="0" h="820866" w="599979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2"/>
          <p:cNvSpPr/>
          <p:nvPr/>
        </p:nvSpPr>
        <p:spPr>
          <a:xfrm>
            <a:off x="5440714" y="6083923"/>
            <a:ext cx="415285" cy="455303"/>
          </a:xfrm>
          <a:custGeom>
            <a:rect b="b" l="l" r="r" t="t"/>
            <a:pathLst>
              <a:path extrusionOk="0" h="929190" w="802483">
                <a:moveTo>
                  <a:pt x="0" y="0"/>
                </a:moveTo>
                <a:lnTo>
                  <a:pt x="802483" y="0"/>
                </a:lnTo>
                <a:lnTo>
                  <a:pt x="802483" y="929191"/>
                </a:lnTo>
                <a:lnTo>
                  <a:pt x="0" y="929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2"/>
          <p:cNvSpPr/>
          <p:nvPr/>
        </p:nvSpPr>
        <p:spPr>
          <a:xfrm>
            <a:off x="5441013" y="3747588"/>
            <a:ext cx="414699" cy="455613"/>
          </a:xfrm>
          <a:custGeom>
            <a:rect b="b" l="l" r="r" t="t"/>
            <a:pathLst>
              <a:path extrusionOk="0" h="949194" w="833565">
                <a:moveTo>
                  <a:pt x="0" y="0"/>
                </a:moveTo>
                <a:lnTo>
                  <a:pt x="833565" y="0"/>
                </a:lnTo>
                <a:lnTo>
                  <a:pt x="833565" y="949194"/>
                </a:lnTo>
                <a:lnTo>
                  <a:pt x="0" y="949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2"/>
          <p:cNvSpPr/>
          <p:nvPr/>
        </p:nvSpPr>
        <p:spPr>
          <a:xfrm>
            <a:off x="1135161" y="3747602"/>
            <a:ext cx="414537" cy="455581"/>
          </a:xfrm>
          <a:custGeom>
            <a:rect b="b" l="l" r="r" t="t"/>
            <a:pathLst>
              <a:path extrusionOk="0" h="820866" w="820866">
                <a:moveTo>
                  <a:pt x="0" y="0"/>
                </a:moveTo>
                <a:lnTo>
                  <a:pt x="820866" y="0"/>
                </a:lnTo>
                <a:lnTo>
                  <a:pt x="820866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/>
        </p:nvSpPr>
        <p:spPr>
          <a:xfrm>
            <a:off x="-156275" y="3679775"/>
            <a:ext cx="5329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7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DB </a:t>
            </a:r>
            <a:endParaRPr b="0" i="0" sz="70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7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Diagramma </a:t>
            </a:r>
            <a:endParaRPr b="0" i="0" sz="70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7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ER</a:t>
            </a:r>
            <a:endParaRPr b="0" i="0" sz="70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43" name="Google Shape;143;p13" title="DiagrammaER.drawi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375" y="1332100"/>
            <a:ext cx="13144048" cy="71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8163400" y="4385338"/>
            <a:ext cx="9808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7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Strato di Persistenza</a:t>
            </a:r>
            <a:endParaRPr b="0" i="0" sz="7200" u="none" cap="none" strike="noStrike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8163399" y="5439938"/>
            <a:ext cx="61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Accesso ai dati del Database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400" y="383800"/>
            <a:ext cx="7593200" cy="9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/>
          <p:nvPr/>
        </p:nvSpPr>
        <p:spPr>
          <a:xfrm>
            <a:off x="997825" y="3686200"/>
            <a:ext cx="3069000" cy="267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5"/>
          <p:cNvPicPr preferRelativeResize="0"/>
          <p:nvPr/>
        </p:nvPicPr>
        <p:blipFill rotWithShape="1">
          <a:blip r:embed="rId3">
            <a:alphaModFix amt="65000"/>
          </a:blip>
          <a:srcRect b="0" l="1500" r="-1500" t="0"/>
          <a:stretch/>
        </p:blipFill>
        <p:spPr>
          <a:xfrm>
            <a:off x="1263952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7954400" y="4134963"/>
            <a:ext cx="9808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Connessione al Database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7954400" y="5159325"/>
            <a:ext cx="98082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Operazioni di apertura e chiusura della connessione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Lettura file properties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4">
            <a:alphaModFix/>
          </a:blip>
          <a:srcRect b="11094" l="7458" r="30958" t="66497"/>
          <a:stretch/>
        </p:blipFill>
        <p:spPr>
          <a:xfrm>
            <a:off x="740725" y="6700900"/>
            <a:ext cx="4582300" cy="213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7964275" y="3406775"/>
            <a:ext cx="9808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57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Mapping tra DB e Oggetti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7964286" y="4293295"/>
            <a:ext cx="9055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31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DAO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7964275" y="5065200"/>
            <a:ext cx="9182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POJO: </a:t>
            </a:r>
            <a:r>
              <a:rPr b="0" i="1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PersonaDB, CartellaClinicaDB, MonitoraggioDB, TerapiaDB, S</a:t>
            </a:r>
            <a:r>
              <a:rPr i="1"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omministrazioneDB</a:t>
            </a:r>
            <a:endParaRPr b="0" i="1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Interfacce DAO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Implementazioni interfacce DAO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" name="Google Shape;170;p16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 rotWithShape="1">
          <a:blip r:embed="rId4">
            <a:alphaModFix/>
          </a:blip>
          <a:srcRect b="35839" l="4170" r="3977" t="44040"/>
          <a:stretch/>
        </p:blipFill>
        <p:spPr>
          <a:xfrm>
            <a:off x="490413" y="4571300"/>
            <a:ext cx="6834675" cy="191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7989825" y="3552425"/>
            <a:ext cx="9808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57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Access Layer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989836" y="4438945"/>
            <a:ext cx="9055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31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Facade, Singleton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7989825" y="5210875"/>
            <a:ext cx="8485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Interfaccia unica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Punto di accesso centralizzato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b="0" i="0" lang="en-US" sz="3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Database - Model</a:t>
            </a:r>
            <a:endParaRPr b="0" i="0" sz="3000" u="none" cap="none" strike="noStrike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4">
            <a:alphaModFix/>
          </a:blip>
          <a:srcRect b="58123" l="3979" r="42393" t="20243"/>
          <a:stretch/>
        </p:blipFill>
        <p:spPr>
          <a:xfrm>
            <a:off x="477675" y="2258725"/>
            <a:ext cx="3990201" cy="214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4">
            <a:alphaModFix/>
          </a:blip>
          <a:srcRect b="87050" l="14901" r="53096" t="484"/>
          <a:stretch/>
        </p:blipFill>
        <p:spPr>
          <a:xfrm>
            <a:off x="1282150" y="383800"/>
            <a:ext cx="2407775" cy="12262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17"/>
          <p:cNvCxnSpPr/>
          <p:nvPr/>
        </p:nvCxnSpPr>
        <p:spPr>
          <a:xfrm flipH="1">
            <a:off x="2481175" y="1420900"/>
            <a:ext cx="6000" cy="164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7"/>
          <p:cNvSpPr/>
          <p:nvPr/>
        </p:nvSpPr>
        <p:spPr>
          <a:xfrm>
            <a:off x="1016975" y="3705025"/>
            <a:ext cx="2945400" cy="1905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1018075" y="-2951388"/>
            <a:ext cx="15513776" cy="1551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8926500" y="4224275"/>
            <a:ext cx="9103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65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Architettura Model-View-Controller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8" title="Screenshot 2026-07-16 alle 15.08.18.png"/>
          <p:cNvPicPr preferRelativeResize="0"/>
          <p:nvPr/>
        </p:nvPicPr>
        <p:blipFill rotWithShape="1">
          <a:blip r:embed="rId4">
            <a:alphaModFix/>
          </a:blip>
          <a:srcRect b="1503" l="0" r="0" t="1503"/>
          <a:stretch/>
        </p:blipFill>
        <p:spPr>
          <a:xfrm>
            <a:off x="347075" y="738035"/>
            <a:ext cx="8449826" cy="881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8093375" y="-2613388"/>
            <a:ext cx="15513776" cy="1551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 rotWithShape="1">
          <a:blip r:embed="rId4">
            <a:alphaModFix/>
          </a:blip>
          <a:srcRect b="22289" l="10706" r="42970" t="13439"/>
          <a:stretch/>
        </p:blipFill>
        <p:spPr>
          <a:xfrm>
            <a:off x="9172554" y="4063914"/>
            <a:ext cx="8978980" cy="4124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title="Screenshot 2026-07-16 alle 15.18.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017" y="3989641"/>
            <a:ext cx="7976024" cy="4272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19"/>
          <p:cNvCxnSpPr>
            <a:stCxn id="200" idx="1"/>
            <a:endCxn id="198" idx="0"/>
          </p:cNvCxnSpPr>
          <p:nvPr/>
        </p:nvCxnSpPr>
        <p:spPr>
          <a:xfrm flipH="1">
            <a:off x="4384950" y="1739583"/>
            <a:ext cx="462600" cy="22500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" name="Google Shape;201;p19"/>
          <p:cNvCxnSpPr>
            <a:stCxn id="197" idx="0"/>
            <a:endCxn id="200" idx="2"/>
          </p:cNvCxnSpPr>
          <p:nvPr/>
        </p:nvCxnSpPr>
        <p:spPr>
          <a:xfrm flipH="1" rot="5400000">
            <a:off x="11958944" y="2360814"/>
            <a:ext cx="1172700" cy="22335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19"/>
          <p:cNvCxnSpPr/>
          <p:nvPr/>
        </p:nvCxnSpPr>
        <p:spPr>
          <a:xfrm flipH="1">
            <a:off x="8373040" y="6125633"/>
            <a:ext cx="7995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203" name="Google Shape;203;p19"/>
          <p:cNvSpPr/>
          <p:nvPr/>
        </p:nvSpPr>
        <p:spPr>
          <a:xfrm>
            <a:off x="17646100" y="5082050"/>
            <a:ext cx="401400" cy="143100"/>
          </a:xfrm>
          <a:prstGeom prst="rect">
            <a:avLst/>
          </a:prstGeom>
          <a:solidFill>
            <a:schemeClr val="lt1"/>
          </a:solidFill>
          <a:ln cap="flat" cmpd="sng" w="10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18009450" y="5225150"/>
            <a:ext cx="462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-503937" y="375400"/>
            <a:ext cx="47223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7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 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9"/>
          <p:cNvPicPr preferRelativeResize="0"/>
          <p:nvPr/>
        </p:nvPicPr>
        <p:blipFill rotWithShape="1">
          <a:blip r:embed="rId4">
            <a:alphaModFix/>
          </a:blip>
          <a:srcRect b="76397" l="43582" r="55416" t="21017"/>
          <a:stretch/>
        </p:blipFill>
        <p:spPr>
          <a:xfrm>
            <a:off x="12939800" y="7144650"/>
            <a:ext cx="194227" cy="1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title="Screenshot 2026-07-16 alle 14.12.1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7550" y="587916"/>
            <a:ext cx="13161901" cy="230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2192900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8275225" y="3429000"/>
            <a:ext cx="9497700" cy="6123300"/>
          </a:xfrm>
          <a:prstGeom prst="rect">
            <a:avLst/>
          </a:prstGeom>
          <a:solidFill>
            <a:srgbClr val="F0EAD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75650" y="236300"/>
            <a:ext cx="1040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6"/>
              <a:buFont typeface="Arial"/>
              <a:buNone/>
            </a:pPr>
            <a:r>
              <a:rPr lang="en-US" sz="6703">
                <a:latin typeface="DM Serif Display"/>
                <a:ea typeface="DM Serif Display"/>
                <a:cs typeface="DM Serif Display"/>
                <a:sym typeface="DM Serif Display"/>
              </a:rPr>
              <a:t>Model</a:t>
            </a:r>
            <a:endParaRPr i="0" sz="6703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593102" y="3651800"/>
            <a:ext cx="7210500" cy="477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</a:t>
            </a: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Proxy e Pattern Singleton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cxnSp>
        <p:nvCxnSpPr>
          <p:cNvPr id="215" name="Google Shape;215;p20"/>
          <p:cNvCxnSpPr>
            <a:endCxn id="214" idx="1"/>
          </p:cNvCxnSpPr>
          <p:nvPr/>
        </p:nvCxnSpPr>
        <p:spPr>
          <a:xfrm rot="-5400000">
            <a:off x="6330952" y="4346300"/>
            <a:ext cx="2718000" cy="18063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0"/>
          <p:cNvSpPr txBox="1"/>
          <p:nvPr/>
        </p:nvSpPr>
        <p:spPr>
          <a:xfrm>
            <a:off x="475651" y="1061678"/>
            <a:ext cx="1991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7"/>
              <a:buFont typeface="Arial"/>
              <a:buNone/>
            </a:pPr>
            <a:r>
              <a:rPr b="1" lang="en-US" sz="4164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RSA </a:t>
            </a:r>
            <a:endParaRPr b="1" i="0" sz="3148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17" name="Google Shape;217;p20" title="Screenshot 2026-07-16 alle 15.08.18.png"/>
          <p:cNvPicPr preferRelativeResize="0"/>
          <p:nvPr/>
        </p:nvPicPr>
        <p:blipFill rotWithShape="1">
          <a:blip r:embed="rId4">
            <a:alphaModFix amt="40000"/>
          </a:blip>
          <a:srcRect b="1503" l="0" r="0" t="1503"/>
          <a:stretch/>
        </p:blipFill>
        <p:spPr>
          <a:xfrm>
            <a:off x="347075" y="2030250"/>
            <a:ext cx="7210576" cy="75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title="Screenshot 2026-07-16 alle 15.08.18.png"/>
          <p:cNvPicPr preferRelativeResize="0"/>
          <p:nvPr/>
        </p:nvPicPr>
        <p:blipFill rotWithShape="1">
          <a:blip r:embed="rId4">
            <a:alphaModFix/>
          </a:blip>
          <a:srcRect b="1505" l="1650" r="-1650" t="60767"/>
          <a:stretch/>
        </p:blipFill>
        <p:spPr>
          <a:xfrm>
            <a:off x="475650" y="6624400"/>
            <a:ext cx="7210576" cy="292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title="Screenshot 2026-07-16 alle 15.26.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1687" y="4332189"/>
            <a:ext cx="8564787" cy="49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75675" y="249175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Controller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75686" y="1061882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FacadeController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cxnSp>
        <p:nvCxnSpPr>
          <p:cNvPr id="227" name="Google Shape;227;p21"/>
          <p:cNvCxnSpPr>
            <a:stCxn id="228" idx="3"/>
            <a:endCxn id="229" idx="1"/>
          </p:cNvCxnSpPr>
          <p:nvPr/>
        </p:nvCxnSpPr>
        <p:spPr>
          <a:xfrm flipH="1" rot="10800000">
            <a:off x="2974500" y="5784362"/>
            <a:ext cx="6428100" cy="2292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0" name="Google Shape;230;p21" title="Screenshot 2026-07-16 alle 15.08.18.png"/>
          <p:cNvPicPr preferRelativeResize="0"/>
          <p:nvPr/>
        </p:nvPicPr>
        <p:blipFill rotWithShape="1">
          <a:blip r:embed="rId4">
            <a:alphaModFix amt="40000"/>
          </a:blip>
          <a:srcRect b="1503" l="0" r="0" t="1503"/>
          <a:stretch/>
        </p:blipFill>
        <p:spPr>
          <a:xfrm>
            <a:off x="475675" y="2325525"/>
            <a:ext cx="7210576" cy="75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title="Screenshot 2026-07-16 alle 15.08.18.png"/>
          <p:cNvPicPr preferRelativeResize="0"/>
          <p:nvPr/>
        </p:nvPicPr>
        <p:blipFill rotWithShape="1">
          <a:blip r:embed="rId4">
            <a:alphaModFix/>
          </a:blip>
          <a:srcRect b="42968" l="0" r="65345" t="35315"/>
          <a:stretch/>
        </p:blipFill>
        <p:spPr>
          <a:xfrm>
            <a:off x="475675" y="5171850"/>
            <a:ext cx="2498825" cy="1683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9099000" y="931625"/>
            <a:ext cx="7683300" cy="9138900"/>
          </a:xfrm>
          <a:prstGeom prst="rect">
            <a:avLst/>
          </a:prstGeom>
          <a:solidFill>
            <a:srgbClr val="F0EAD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9402526" y="1257663"/>
            <a:ext cx="3286500" cy="477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Pattern Facade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29" name="Google Shape;229;p21" title="Screenshot 2026-07-16 alle 15.44.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02525" y="1930750"/>
            <a:ext cx="6669704" cy="770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376600" y="332200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View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376611" y="1144907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JButton, JPanel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40" name="Google Shape;240;p22" title="Screenshot 2026-07-16 alle 15.51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750" y="2937825"/>
            <a:ext cx="9360074" cy="637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22"/>
          <p:cNvCxnSpPr>
            <a:stCxn id="242" idx="3"/>
            <a:endCxn id="240" idx="1"/>
          </p:cNvCxnSpPr>
          <p:nvPr/>
        </p:nvCxnSpPr>
        <p:spPr>
          <a:xfrm>
            <a:off x="3030550" y="3596275"/>
            <a:ext cx="5146200" cy="2526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3" name="Google Shape;243;p22" title="Screenshot 2026-07-16 alle 15.08.18.png"/>
          <p:cNvPicPr preferRelativeResize="0"/>
          <p:nvPr/>
        </p:nvPicPr>
        <p:blipFill rotWithShape="1">
          <a:blip r:embed="rId5">
            <a:alphaModFix amt="40000"/>
          </a:blip>
          <a:srcRect b="1503" l="0" r="0" t="1503"/>
          <a:stretch/>
        </p:blipFill>
        <p:spPr>
          <a:xfrm>
            <a:off x="251750" y="2239875"/>
            <a:ext cx="7448049" cy="77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title="Screenshot 2026-07-16 alle 15.08.18.png"/>
          <p:cNvPicPr preferRelativeResize="0"/>
          <p:nvPr/>
        </p:nvPicPr>
        <p:blipFill rotWithShape="1">
          <a:blip r:embed="rId5">
            <a:alphaModFix/>
          </a:blip>
          <a:srcRect b="62617" l="0" r="60524" t="0"/>
          <a:stretch/>
        </p:blipFill>
        <p:spPr>
          <a:xfrm>
            <a:off x="366050" y="2239875"/>
            <a:ext cx="2664500" cy="27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title="Screenshot 2026-07-16 alle 12.51.10.png"/>
          <p:cNvPicPr preferRelativeResize="0"/>
          <p:nvPr/>
        </p:nvPicPr>
        <p:blipFill rotWithShape="1">
          <a:blip r:embed="rId3">
            <a:alphaModFix/>
          </a:blip>
          <a:srcRect b="7493" l="22451" r="19969" t="0"/>
          <a:stretch/>
        </p:blipFill>
        <p:spPr>
          <a:xfrm>
            <a:off x="0" y="1503125"/>
            <a:ext cx="6042300" cy="587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title="Screenshot 2026-07-16 alle 12.52.01.png"/>
          <p:cNvPicPr preferRelativeResize="0"/>
          <p:nvPr/>
        </p:nvPicPr>
        <p:blipFill rotWithShape="1">
          <a:blip r:embed="rId4">
            <a:alphaModFix/>
          </a:blip>
          <a:srcRect b="16771" l="21477" r="21219" t="0"/>
          <a:stretch/>
        </p:blipFill>
        <p:spPr>
          <a:xfrm>
            <a:off x="6136250" y="1503125"/>
            <a:ext cx="6533625" cy="44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title="Screenshot 2026-07-16 alle 12.52.28.png"/>
          <p:cNvPicPr preferRelativeResize="0"/>
          <p:nvPr/>
        </p:nvPicPr>
        <p:blipFill rotWithShape="1">
          <a:blip r:embed="rId5">
            <a:alphaModFix/>
          </a:blip>
          <a:srcRect b="9206" l="24823" r="24662" t="0"/>
          <a:stretch/>
        </p:blipFill>
        <p:spPr>
          <a:xfrm>
            <a:off x="12974125" y="1503125"/>
            <a:ext cx="5313876" cy="593046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94025" y="142875"/>
            <a:ext cx="21930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View</a:t>
            </a:r>
            <a:endParaRPr sz="66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2074100" y="75656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487050" y="61142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194025" y="75656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2543900" y="7814900"/>
            <a:ext cx="510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8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 Aggiornamento Stato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363063" y="6363500"/>
            <a:ext cx="425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8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 Inserimento Dati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892200" y="7814900"/>
            <a:ext cx="425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8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 Selezione Terapia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883000" y="659850"/>
            <a:ext cx="241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Login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4" title="DiagrammaSequenzaLog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525" y="1586325"/>
            <a:ext cx="13200424" cy="8432851"/>
          </a:xfrm>
          <a:prstGeom prst="rect">
            <a:avLst/>
          </a:prstGeom>
          <a:solidFill>
            <a:srgbClr val="F1BDC0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469875" y="643525"/>
            <a:ext cx="1682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: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Consultazione del Piano Terapeutico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5" title="DiagrammaSequenzaVisualizzazioneTerapieOdier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725" y="1490375"/>
            <a:ext cx="11413400" cy="8642701"/>
          </a:xfrm>
          <a:prstGeom prst="rect">
            <a:avLst/>
          </a:prstGeom>
          <a:solidFill>
            <a:srgbClr val="F1CEC0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470450" y="474125"/>
            <a:ext cx="178176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: </a:t>
            </a:r>
            <a:r>
              <a:rPr b="1"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Registrazione della Somministrazione</a:t>
            </a:r>
            <a:endParaRPr sz="60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(Infermiere)</a:t>
            </a:r>
            <a:endParaRPr sz="60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78" name="Google Shape;278;p26" title="DiagrammaSequenzaRegistrazioneSomministrazioneInfermie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325" y="2050175"/>
            <a:ext cx="16053873" cy="7972024"/>
          </a:xfrm>
          <a:prstGeom prst="rect">
            <a:avLst/>
          </a:prstGeom>
          <a:solidFill>
            <a:srgbClr val="F1CEC0"/>
          </a:solidFill>
          <a:ln>
            <a:noFill/>
          </a:ln>
        </p:spPr>
      </p:pic>
      <p:pic>
        <p:nvPicPr>
          <p:cNvPr id="279" name="Google Shape;279;p26"/>
          <p:cNvPicPr preferRelativeResize="0"/>
          <p:nvPr/>
        </p:nvPicPr>
        <p:blipFill rotWithShape="1">
          <a:blip r:embed="rId5">
            <a:alphaModFix/>
          </a:blip>
          <a:srcRect b="47555" l="74989" r="6214" t="49034"/>
          <a:stretch/>
        </p:blipFill>
        <p:spPr>
          <a:xfrm>
            <a:off x="11771525" y="6156775"/>
            <a:ext cx="1993625" cy="217975"/>
          </a:xfrm>
          <a:prstGeom prst="rect">
            <a:avLst/>
          </a:prstGeom>
          <a:solidFill>
            <a:srgbClr val="F1CEC0"/>
          </a:solidFill>
          <a:ln>
            <a:noFill/>
          </a:ln>
        </p:spPr>
      </p:pic>
      <p:sp>
        <p:nvSpPr>
          <p:cNvPr id="280" name="Google Shape;280;p26"/>
          <p:cNvSpPr/>
          <p:nvPr/>
        </p:nvSpPr>
        <p:spPr>
          <a:xfrm>
            <a:off x="11783750" y="5740975"/>
            <a:ext cx="1993500" cy="4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7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407625" y="234675"/>
            <a:ext cx="18481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Diagramma di Sequenza: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Visualizzazione terapie omesse </a:t>
            </a:r>
            <a:endParaRPr sz="60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87" name="Google Shape;287;p27" title="DiagrammaSequenzaVisualizzazioneTerapieOmes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225" y="2038350"/>
            <a:ext cx="16587101" cy="722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8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504900" y="317500"/>
            <a:ext cx="177831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5: </a:t>
            </a:r>
            <a:r>
              <a:rPr b="1"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Registrazione della Somministrazione</a:t>
            </a:r>
            <a:endParaRPr sz="60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(Medico)</a:t>
            </a:r>
            <a:endParaRPr sz="60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94" name="Google Shape;294;p28" title="DiagrammaSequenzaRegistrazioneSomministrazioneMedi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625" y="1886025"/>
            <a:ext cx="15038750" cy="8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/>
        </p:nvSpPr>
        <p:spPr>
          <a:xfrm>
            <a:off x="1105550" y="1477075"/>
            <a:ext cx="13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130125" y="3033125"/>
            <a:ext cx="15978600" cy="13155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Test Logica Clinica: validazione dell'inserimento dati e della corretta transizione di stato delle terapie.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1179275" y="5012700"/>
            <a:ext cx="15978600" cy="13155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 sulla sicurezza: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verifica che il </a:t>
            </a: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pattern Proxy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dia le giuste autorizzazioni</a:t>
            </a:r>
            <a:endParaRPr b="0" i="0" sz="32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1179275" y="6992275"/>
            <a:ext cx="15978600" cy="131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erif Display"/>
                <a:ea typeface="DM Serif Display"/>
                <a:cs typeface="DM Serif Display"/>
                <a:sym typeface="DM Serif Display"/>
              </a:rPr>
              <a:t>Test DB e Dominio: verifica della comunicazione tramite FacadeSingletonDB e della creazione automatica delle Cartelle Cliniche.</a:t>
            </a:r>
            <a:endParaRPr b="0" i="0" sz="3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0624800" y="1714513"/>
            <a:ext cx="6857976" cy="6857976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10980"/>
              </a:srgbClr>
            </a:outerShdw>
          </a:effectLst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4">
            <a:alphaModFix amt="20000"/>
          </a:blip>
          <a:srcRect b="18652" l="0" r="0" t="15442"/>
          <a:stretch/>
        </p:blipFill>
        <p:spPr>
          <a:xfrm>
            <a:off x="-800475" y="939401"/>
            <a:ext cx="9861100" cy="840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 txBox="1"/>
          <p:nvPr/>
        </p:nvSpPr>
        <p:spPr>
          <a:xfrm>
            <a:off x="3510876" y="4163088"/>
            <a:ext cx="122337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2784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CareConnect Pro 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Progetto POSW - Università di Pavia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3510874" y="6525972"/>
            <a:ext cx="12793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AGNESE PINTO, DARLIS MORILLO MENDOZA, SARA DOMENICA SAPONE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11232275" y="9015201"/>
            <a:ext cx="6250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Anno: 2025-2026		Gruppo: Magggiche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Clean Resu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